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media/image1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60" r:id="rId8"/>
    <p:sldId id="259" r:id="rId9"/>
    <p:sldId id="263" r:id="rId10"/>
    <p:sldId id="268" r:id="rId11"/>
    <p:sldId id="262" r:id="rId12"/>
    <p:sldId id="269" r:id="rId13"/>
    <p:sldId id="272" r:id="rId14"/>
    <p:sldId id="273" r:id="rId15"/>
    <p:sldId id="274" r:id="rId16"/>
  </p:sldIdLst>
  <p:sldSz cx="14630400" cy="8229600"/>
  <p:notesSz cx="8229600" cy="14630400"/>
  <p:embeddedFontLst>
    <p:embeddedFont>
      <p:font typeface="Montserrat" pitchFamily="34" charset="0"/>
      <p:regular r:id="rId20"/>
    </p:embeddedFont>
    <p:embeddedFont>
      <p:font typeface="Montserrat" pitchFamily="34" charset="-122"/>
      <p:regular r:id="rId21"/>
    </p:embeddedFont>
    <p:embeddedFont>
      <p:font typeface="Montserrat" pitchFamily="34" charset="-120"/>
      <p:regular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font" Target="fonts/font3.fntdata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6.jpe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12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9.xml"/><Relationship Id="rId3" Type="http://schemas.openxmlformats.org/officeDocument/2006/relationships/image" Target="../media/image15.jpeg"/><Relationship Id="rId2" Type="http://schemas.openxmlformats.org/officeDocument/2006/relationships/image" Target="../media/image14.svg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19.jpeg"/><Relationship Id="rId1" Type="http://schemas.openxmlformats.org/officeDocument/2006/relationships/image" Target="../media/image18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6244709" y="3802023"/>
            <a:ext cx="7627382" cy="10401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1561465" y="7005320"/>
            <a:ext cx="595630" cy="552450"/>
          </a:xfrm>
          <a:prstGeom prst="roundRect">
            <a:avLst>
              <a:gd name="adj" fmla="val 26380043"/>
            </a:avLst>
          </a:prstGeom>
          <a:solidFill>
            <a:srgbClr val="5CCD65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561465" y="7274560"/>
            <a:ext cx="595630" cy="1873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0"/>
              </a:lnSpc>
              <a:buNone/>
            </a:pPr>
            <a:r>
              <a:rPr lang="en-US" sz="1500" dirty="0"/>
              <a:t>Ryan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374265" y="7005955"/>
            <a:ext cx="4581525" cy="5518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3500" b="1" dirty="0">
                <a:solidFill>
                  <a:srgbClr val="27252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by Aryan Kushwaha</a:t>
            </a:r>
            <a:endParaRPr lang="en-US" sz="3500" dirty="0"/>
          </a:p>
        </p:txBody>
      </p:sp>
      <p:pic>
        <p:nvPicPr>
          <p:cNvPr id="10" name="Picture 9"/>
          <p:cNvPicPr/>
          <p:nvPr/>
        </p:nvPicPr>
        <p:blipFill>
          <a:blip r:embed="rId1"/>
          <a:stretch>
            <a:fillRect/>
          </a:stretch>
        </p:blipFill>
        <p:spPr>
          <a:xfrm>
            <a:off x="536575" y="0"/>
            <a:ext cx="13546455" cy="439928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4845" y="7557770"/>
            <a:ext cx="2491740" cy="58420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1509395" y="4841875"/>
            <a:ext cx="12016105" cy="1668780"/>
          </a:xfrm>
          <a:prstGeom prst="rect">
            <a:avLst/>
          </a:prstGeom>
        </p:spPr>
        <p:txBody>
          <a:bodyPr>
            <a:noAutofit/>
          </a:bodyPr>
          <a:p>
            <a:pPr marL="0" indent="0" algn="just"/>
            <a:r>
              <a:rPr lang="en-US" altLang="en-US" sz="2500" b="0" i="0">
                <a:solidFill>
                  <a:srgbClr val="000000"/>
                </a:solidFill>
              </a:rPr>
              <a:t>TryHackMe is an online cybersecurity training platform. It offers interactive, browser-based labs.The platform is widely used by individuals, educators, and organizations to build skills in ethical hacking, penetration testing, and defensive security.</a:t>
            </a:r>
            <a:endParaRPr lang="en-US" altLang="en-US" sz="2500" b="0" i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93520" y="1103630"/>
            <a:ext cx="11657330" cy="7124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55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TryHackMe Organization Overview</a:t>
            </a:r>
            <a:endParaRPr lang="en-US" sz="5500" dirty="0"/>
          </a:p>
        </p:txBody>
      </p:sp>
      <p:sp>
        <p:nvSpPr>
          <p:cNvPr id="3" name="Text 1"/>
          <p:cNvSpPr/>
          <p:nvPr/>
        </p:nvSpPr>
        <p:spPr>
          <a:xfrm>
            <a:off x="7601069" y="3201710"/>
            <a:ext cx="285071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0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Founded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951470" y="3663315"/>
            <a:ext cx="1371600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5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2018</a:t>
            </a:r>
            <a:endParaRPr lang="en-US" sz="2500" dirty="0">
              <a:solidFill>
                <a:srgbClr val="272525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426216" y="2069505"/>
            <a:ext cx="285071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0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Founders</a:t>
            </a:r>
            <a:endParaRPr lang="en-US" sz="3000" b="1" dirty="0">
              <a:solidFill>
                <a:srgbClr val="7068F4"/>
              </a:solidFill>
              <a:latin typeface="Barlow Bold" pitchFamily="34" charset="0"/>
              <a:ea typeface="Barlow Bold" pitchFamily="34" charset="-122"/>
              <a:cs typeface="Barlow Bold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855351" y="7302579"/>
            <a:ext cx="4018359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altLang="en-US" sz="2500" dirty="0"/>
              <a:t>Ben Spring and Ashu Savan</a:t>
            </a:r>
            <a:endParaRPr lang="en-US" alt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625358" y="4760635"/>
            <a:ext cx="285071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0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Location </a:t>
            </a:r>
            <a:endParaRPr lang="en-US" sz="3000" b="1" dirty="0">
              <a:solidFill>
                <a:srgbClr val="7068F4"/>
              </a:solidFill>
              <a:latin typeface="Barlow Bold" pitchFamily="34" charset="0"/>
              <a:ea typeface="Barlow Bold" pitchFamily="34" charset="-122"/>
              <a:cs typeface="Barlow Bold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51748" y="5116909"/>
            <a:ext cx="4018359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London, United Kingdom</a:t>
            </a:r>
            <a:endParaRPr lang="en-US" sz="20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8550" y="7327900"/>
            <a:ext cx="2102485" cy="901700"/>
          </a:xfrm>
          <a:prstGeom prst="rect">
            <a:avLst/>
          </a:prstGeom>
        </p:spPr>
      </p:pic>
      <p:pic>
        <p:nvPicPr>
          <p:cNvPr id="13" name="Picture 12"/>
          <p:cNvPicPr/>
          <p:nvPr/>
        </p:nvPicPr>
        <p:blipFill>
          <a:blip r:embed="rId2"/>
          <a:stretch>
            <a:fillRect/>
          </a:stretch>
        </p:blipFill>
        <p:spPr>
          <a:xfrm>
            <a:off x="1524000" y="2482215"/>
            <a:ext cx="4680585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934204" y="755015"/>
            <a:ext cx="5701546" cy="712708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Mission &amp; Purpose</a:t>
            </a:r>
            <a:endParaRPr lang="en-US" sz="4450" dirty="0"/>
          </a:p>
        </p:txBody>
      </p:sp>
      <p:sp>
        <p:nvSpPr>
          <p:cNvPr id="15" name="Shape 1"/>
          <p:cNvSpPr/>
          <p:nvPr/>
        </p:nvSpPr>
        <p:spPr>
          <a:xfrm>
            <a:off x="758309" y="2169200"/>
            <a:ext cx="487442" cy="487442"/>
          </a:xfrm>
          <a:prstGeom prst="roundRect">
            <a:avLst>
              <a:gd name="adj" fmla="val 40004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6" name="Text 2"/>
          <p:cNvSpPr/>
          <p:nvPr/>
        </p:nvSpPr>
        <p:spPr>
          <a:xfrm>
            <a:off x="1462326" y="2243614"/>
            <a:ext cx="285071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Accessible learning</a:t>
            </a:r>
            <a:endParaRPr lang="en-US" sz="2200" dirty="0"/>
          </a:p>
        </p:txBody>
      </p:sp>
      <p:sp>
        <p:nvSpPr>
          <p:cNvPr id="17" name="Text 3"/>
          <p:cNvSpPr/>
          <p:nvPr/>
        </p:nvSpPr>
        <p:spPr>
          <a:xfrm>
            <a:off x="1462326" y="2729746"/>
            <a:ext cx="6923365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Make cybersecurity education easy and fun</a:t>
            </a:r>
            <a:endParaRPr lang="en-US" sz="1700" dirty="0"/>
          </a:p>
        </p:txBody>
      </p:sp>
      <p:sp>
        <p:nvSpPr>
          <p:cNvPr id="18" name="Shape 4"/>
          <p:cNvSpPr/>
          <p:nvPr/>
        </p:nvSpPr>
        <p:spPr>
          <a:xfrm>
            <a:off x="758309" y="3509724"/>
            <a:ext cx="487442" cy="487442"/>
          </a:xfrm>
          <a:prstGeom prst="roundRect">
            <a:avLst>
              <a:gd name="adj" fmla="val 40004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9" name="Text 5"/>
          <p:cNvSpPr/>
          <p:nvPr/>
        </p:nvSpPr>
        <p:spPr>
          <a:xfrm>
            <a:off x="1462326" y="3584138"/>
            <a:ext cx="285071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Hands-on skills</a:t>
            </a:r>
            <a:endParaRPr lang="en-US" sz="2200" dirty="0"/>
          </a:p>
        </p:txBody>
      </p:sp>
      <p:sp>
        <p:nvSpPr>
          <p:cNvPr id="20" name="Text 6"/>
          <p:cNvSpPr/>
          <p:nvPr/>
        </p:nvSpPr>
        <p:spPr>
          <a:xfrm>
            <a:off x="1462326" y="4070271"/>
            <a:ext cx="6923365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Focus on practical labs and real-world scenarios</a:t>
            </a:r>
            <a:endParaRPr lang="en-US" sz="1700" dirty="0"/>
          </a:p>
        </p:txBody>
      </p:sp>
      <p:sp>
        <p:nvSpPr>
          <p:cNvPr id="21" name="Shape 7"/>
          <p:cNvSpPr/>
          <p:nvPr/>
        </p:nvSpPr>
        <p:spPr>
          <a:xfrm>
            <a:off x="758309" y="4850249"/>
            <a:ext cx="487442" cy="487442"/>
          </a:xfrm>
          <a:prstGeom prst="roundRect">
            <a:avLst>
              <a:gd name="adj" fmla="val 40004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2" name="Text 8"/>
          <p:cNvSpPr/>
          <p:nvPr/>
        </p:nvSpPr>
        <p:spPr>
          <a:xfrm>
            <a:off x="1462326" y="4924663"/>
            <a:ext cx="285071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Inclusive for all</a:t>
            </a:r>
            <a:endParaRPr lang="en-US" sz="2200" dirty="0"/>
          </a:p>
        </p:txBody>
      </p:sp>
      <p:sp>
        <p:nvSpPr>
          <p:cNvPr id="23" name="Text 9"/>
          <p:cNvSpPr/>
          <p:nvPr/>
        </p:nvSpPr>
        <p:spPr>
          <a:xfrm>
            <a:off x="1462326" y="5410795"/>
            <a:ext cx="6923365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beginners to experts</a:t>
            </a:r>
            <a:endParaRPr lang="en-US" sz="1700" dirty="0"/>
          </a:p>
        </p:txBody>
      </p:sp>
      <p:sp>
        <p:nvSpPr>
          <p:cNvPr id="24" name="Shape 10"/>
          <p:cNvSpPr/>
          <p:nvPr/>
        </p:nvSpPr>
        <p:spPr>
          <a:xfrm>
            <a:off x="758309" y="6190774"/>
            <a:ext cx="487442" cy="487442"/>
          </a:xfrm>
          <a:prstGeom prst="roundRect">
            <a:avLst>
              <a:gd name="adj" fmla="val 40004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5" name="Text 11"/>
          <p:cNvSpPr/>
          <p:nvPr/>
        </p:nvSpPr>
        <p:spPr>
          <a:xfrm>
            <a:off x="1462326" y="6265188"/>
            <a:ext cx="285071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Community growth</a:t>
            </a:r>
            <a:endParaRPr lang="en-US" sz="2200" dirty="0"/>
          </a:p>
        </p:txBody>
      </p:sp>
      <p:sp>
        <p:nvSpPr>
          <p:cNvPr id="26" name="Text 12"/>
          <p:cNvSpPr/>
          <p:nvPr/>
        </p:nvSpPr>
        <p:spPr>
          <a:xfrm>
            <a:off x="1462326" y="6652895"/>
            <a:ext cx="6923365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 a strong and helping cybersecurity group</a:t>
            </a:r>
            <a:endParaRPr lang="en-US" sz="1700" dirty="0"/>
          </a:p>
        </p:txBody>
      </p:sp>
      <p:sp>
        <p:nvSpPr>
          <p:cNvPr id="3" name="Text Box 2"/>
          <p:cNvSpPr txBox="1"/>
          <p:nvPr/>
        </p:nvSpPr>
        <p:spPr>
          <a:xfrm>
            <a:off x="788035" y="1367790"/>
            <a:ext cx="4876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1286629" y="1721326"/>
            <a:ext cx="5701546" cy="7127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Who Uses TryHackMe?</a:t>
            </a:r>
            <a:endParaRPr lang="en-US" sz="4450" dirty="0"/>
          </a:p>
        </p:txBody>
      </p:sp>
      <p:sp>
        <p:nvSpPr>
          <p:cNvPr id="26" name="Shape 1"/>
          <p:cNvSpPr/>
          <p:nvPr/>
        </p:nvSpPr>
        <p:spPr>
          <a:xfrm>
            <a:off x="758309" y="3085981"/>
            <a:ext cx="3705463" cy="1612702"/>
          </a:xfrm>
          <a:prstGeom prst="roundRect">
            <a:avLst>
              <a:gd name="adj" fmla="val 1209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7" name="Text 2"/>
          <p:cNvSpPr/>
          <p:nvPr/>
        </p:nvSpPr>
        <p:spPr>
          <a:xfrm>
            <a:off x="974884" y="3302556"/>
            <a:ext cx="285071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Students</a:t>
            </a:r>
            <a:endParaRPr lang="en-US" sz="2200" dirty="0"/>
          </a:p>
        </p:txBody>
      </p:sp>
      <p:sp>
        <p:nvSpPr>
          <p:cNvPr id="28" name="Text 3"/>
          <p:cNvSpPr/>
          <p:nvPr/>
        </p:nvSpPr>
        <p:spPr>
          <a:xfrm>
            <a:off x="974884" y="3788688"/>
            <a:ext cx="3272314" cy="6934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Learning foundational and advanced skills</a:t>
            </a:r>
            <a:endParaRPr lang="en-US" sz="1700" dirty="0"/>
          </a:p>
        </p:txBody>
      </p:sp>
      <p:sp>
        <p:nvSpPr>
          <p:cNvPr id="29" name="Shape 4"/>
          <p:cNvSpPr/>
          <p:nvPr/>
        </p:nvSpPr>
        <p:spPr>
          <a:xfrm>
            <a:off x="4680347" y="3085981"/>
            <a:ext cx="3705463" cy="1612702"/>
          </a:xfrm>
          <a:prstGeom prst="roundRect">
            <a:avLst>
              <a:gd name="adj" fmla="val 1209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30" name="Text 5"/>
          <p:cNvSpPr/>
          <p:nvPr/>
        </p:nvSpPr>
        <p:spPr>
          <a:xfrm>
            <a:off x="4896922" y="3302556"/>
            <a:ext cx="285071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Professionals</a:t>
            </a:r>
            <a:endParaRPr lang="en-US" sz="2200" dirty="0"/>
          </a:p>
        </p:txBody>
      </p:sp>
      <p:sp>
        <p:nvSpPr>
          <p:cNvPr id="31" name="Text 6"/>
          <p:cNvSpPr/>
          <p:nvPr/>
        </p:nvSpPr>
        <p:spPr>
          <a:xfrm>
            <a:off x="4896922" y="3788688"/>
            <a:ext cx="3272314" cy="6934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Upskilling and certifications for career growth</a:t>
            </a:r>
            <a:endParaRPr lang="en-US" sz="1700" dirty="0"/>
          </a:p>
        </p:txBody>
      </p:sp>
      <p:sp>
        <p:nvSpPr>
          <p:cNvPr id="32" name="Shape 7"/>
          <p:cNvSpPr/>
          <p:nvPr/>
        </p:nvSpPr>
        <p:spPr>
          <a:xfrm>
            <a:off x="758309" y="4915257"/>
            <a:ext cx="7627382" cy="1265992"/>
          </a:xfrm>
          <a:prstGeom prst="roundRect">
            <a:avLst>
              <a:gd name="adj" fmla="val 15403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33" name="Text 8"/>
          <p:cNvSpPr/>
          <p:nvPr/>
        </p:nvSpPr>
        <p:spPr>
          <a:xfrm>
            <a:off x="974884" y="5131832"/>
            <a:ext cx="285071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Organizations</a:t>
            </a:r>
            <a:endParaRPr lang="en-US" sz="2200" dirty="0"/>
          </a:p>
        </p:txBody>
      </p:sp>
      <p:sp>
        <p:nvSpPr>
          <p:cNvPr id="34" name="Text 9"/>
          <p:cNvSpPr/>
          <p:nvPr/>
        </p:nvSpPr>
        <p:spPr>
          <a:xfrm>
            <a:off x="974884" y="5617964"/>
            <a:ext cx="7194233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Training teams to improve security posture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-635"/>
            <a:ext cx="5486400" cy="8230235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758309" y="1496774"/>
            <a:ext cx="7627382" cy="1425416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Training Types &amp; Learning Paths</a:t>
            </a:r>
            <a:endParaRPr lang="en-US" sz="44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145" y="3287395"/>
            <a:ext cx="952500" cy="838200"/>
          </a:xfrm>
          <a:prstGeom prst="rect">
            <a:avLst/>
          </a:prstGeom>
        </p:spPr>
      </p:pic>
      <p:sp>
        <p:nvSpPr>
          <p:cNvPr id="15" name="Text 1"/>
          <p:cNvSpPr/>
          <p:nvPr/>
        </p:nvSpPr>
        <p:spPr>
          <a:xfrm>
            <a:off x="758309" y="4318992"/>
            <a:ext cx="285071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800"/>
              </a:lnSpc>
              <a:buNone/>
            </a:pPr>
            <a:r>
              <a:rPr lang="en-US" sz="30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Learning Paths</a:t>
            </a:r>
            <a:endParaRPr lang="en-US" sz="3000" dirty="0"/>
          </a:p>
        </p:txBody>
      </p:sp>
      <p:sp>
        <p:nvSpPr>
          <p:cNvPr id="16" name="Text 2"/>
          <p:cNvSpPr/>
          <p:nvPr/>
        </p:nvSpPr>
        <p:spPr>
          <a:xfrm>
            <a:off x="758309" y="4805124"/>
            <a:ext cx="3678317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Beginner to Expert</a:t>
            </a:r>
            <a:endParaRPr lang="en-US" sz="2000" dirty="0"/>
          </a:p>
        </p:txBody>
      </p:sp>
      <p:sp>
        <p:nvSpPr>
          <p:cNvPr id="17" name="Text 3"/>
          <p:cNvSpPr/>
          <p:nvPr/>
        </p:nvSpPr>
        <p:spPr>
          <a:xfrm>
            <a:off x="758309" y="5227558"/>
            <a:ext cx="3678317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 Teaming</a:t>
            </a:r>
            <a:endParaRPr lang="en-US" sz="2000" dirty="0"/>
          </a:p>
        </p:txBody>
      </p:sp>
      <p:sp>
        <p:nvSpPr>
          <p:cNvPr id="18" name="Text 4"/>
          <p:cNvSpPr/>
          <p:nvPr/>
        </p:nvSpPr>
        <p:spPr>
          <a:xfrm>
            <a:off x="758309" y="5649992"/>
            <a:ext cx="3678317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Blue Teaming</a:t>
            </a:r>
            <a:endParaRPr lang="en-US" sz="2000" dirty="0"/>
          </a:p>
        </p:txBody>
      </p:sp>
      <p:sp>
        <p:nvSpPr>
          <p:cNvPr id="19" name="Text 5"/>
          <p:cNvSpPr/>
          <p:nvPr/>
        </p:nvSpPr>
        <p:spPr>
          <a:xfrm>
            <a:off x="758309" y="6072426"/>
            <a:ext cx="3678317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Certifications</a:t>
            </a:r>
            <a:endParaRPr lang="en-US" sz="2000" dirty="0">
              <a:solidFill>
                <a:srgbClr val="272525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870" y="3172460"/>
            <a:ext cx="953135" cy="953135"/>
          </a:xfrm>
          <a:prstGeom prst="rect">
            <a:avLst/>
          </a:prstGeom>
        </p:spPr>
      </p:pic>
      <p:sp>
        <p:nvSpPr>
          <p:cNvPr id="21" name="Text 6"/>
          <p:cNvSpPr/>
          <p:nvPr/>
        </p:nvSpPr>
        <p:spPr>
          <a:xfrm>
            <a:off x="4707374" y="4318992"/>
            <a:ext cx="285071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800"/>
              </a:lnSpc>
              <a:buNone/>
            </a:pPr>
            <a:r>
              <a:rPr lang="en-US" sz="30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Hands-on Labs</a:t>
            </a:r>
            <a:endParaRPr lang="en-US" sz="3000" dirty="0"/>
          </a:p>
        </p:txBody>
      </p:sp>
      <p:sp>
        <p:nvSpPr>
          <p:cNvPr id="25" name="Text 2"/>
          <p:cNvSpPr/>
          <p:nvPr/>
        </p:nvSpPr>
        <p:spPr>
          <a:xfrm>
            <a:off x="4436745" y="4805045"/>
            <a:ext cx="3990340" cy="791845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sym typeface="+mn-ea"/>
              </a:rPr>
              <a:t>Interactive challenges and </a:t>
            </a:r>
            <a:endParaRPr lang="en-US" sz="2000" dirty="0">
              <a:solidFill>
                <a:srgbClr val="272525"/>
              </a:solidFill>
              <a:latin typeface="Montserrat" pitchFamily="34" charset="0"/>
              <a:ea typeface="Montserrat" pitchFamily="34" charset="-122"/>
              <a:cs typeface="Montserrat" pitchFamily="34" charset="-120"/>
              <a:sym typeface="+mn-ea"/>
            </a:endParaRPr>
          </a:p>
          <a:p>
            <a:pPr indent="457200" algn="l">
              <a:lnSpc>
                <a:spcPts val="2700"/>
              </a:lnSpc>
              <a:buSzPct val="100000"/>
              <a:buNone/>
            </a:pPr>
            <a:r>
              <a:rPr lang="en-US" sz="20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sym typeface="+mn-ea"/>
              </a:rPr>
              <a:t>virtual environments</a:t>
            </a:r>
            <a:endParaRPr lang="en-US" sz="2000" dirty="0">
              <a:solidFill>
                <a:srgbClr val="272525"/>
              </a:solidFill>
              <a:latin typeface="Montserrat" pitchFamily="34" charset="0"/>
              <a:ea typeface="Montserrat" pitchFamily="34" charset="-122"/>
              <a:cs typeface="Montserrat" pitchFamily="34" charset="-120"/>
              <a:sym typeface="+mn-ea"/>
            </a:endParaRPr>
          </a:p>
          <a:p>
            <a:pPr indent="0" algn="l">
              <a:lnSpc>
                <a:spcPts val="2700"/>
              </a:lnSpc>
              <a:buSzPct val="100000"/>
              <a:buNone/>
            </a:pPr>
            <a:r>
              <a:rPr lang="en-US" sz="20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29865" y="412750"/>
            <a:ext cx="5948680" cy="6038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55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Platform Growth Visualized</a:t>
            </a:r>
            <a:endParaRPr lang="en-US" sz="555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10795" y="7319645"/>
            <a:ext cx="1919605" cy="901700"/>
          </a:xfrm>
          <a:prstGeom prst="rect">
            <a:avLst/>
          </a:prstGeom>
        </p:spPr>
      </p:pic>
      <p:pic>
        <p:nvPicPr>
          <p:cNvPr id="8" name="Picture 7" descr="Figure_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1069975"/>
            <a:ext cx="14631035" cy="7099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0" y="1343025"/>
            <a:ext cx="7315200" cy="1148715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ctr">
              <a:lnSpc>
                <a:spcPts val="4350"/>
              </a:lnSpc>
              <a:buNone/>
            </a:pPr>
            <a:r>
              <a:rPr lang="en-US" sz="60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Revenue </a:t>
            </a:r>
            <a:endParaRPr lang="en-US" sz="6000" dirty="0"/>
          </a:p>
        </p:txBody>
      </p:sp>
      <p:sp>
        <p:nvSpPr>
          <p:cNvPr id="4" name="Text Box 3"/>
          <p:cNvSpPr txBox="1"/>
          <p:nvPr/>
        </p:nvSpPr>
        <p:spPr>
          <a:xfrm>
            <a:off x="299085" y="2978785"/>
            <a:ext cx="7163435" cy="34848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just"/>
            <a:r>
              <a:rPr sz="3000">
                <a:sym typeface="+mn-ea"/>
              </a:rPr>
              <a:t>• Estimated annual revenue: $</a:t>
            </a:r>
            <a:r>
              <a:rPr lang="en-US" sz="3000">
                <a:sym typeface="+mn-ea"/>
              </a:rPr>
              <a:t>15</a:t>
            </a:r>
            <a:r>
              <a:rPr sz="3000">
                <a:sym typeface="+mn-ea"/>
              </a:rPr>
              <a:t> million</a:t>
            </a:r>
            <a:endParaRPr sz="3000">
              <a:sym typeface="+mn-ea"/>
            </a:endParaRPr>
          </a:p>
          <a:p>
            <a:pPr algn="just"/>
            <a:endParaRPr sz="3000">
              <a:sym typeface="+mn-ea"/>
            </a:endParaRPr>
          </a:p>
          <a:p>
            <a:pPr algn="just"/>
            <a:endParaRPr sz="3000">
              <a:sym typeface="+mn-ea"/>
            </a:endParaRPr>
          </a:p>
          <a:p>
            <a:pPr algn="just"/>
            <a:r>
              <a:rPr sz="3000">
                <a:sym typeface="+mn-ea"/>
              </a:rPr>
              <a:t>• 10% month-over-month revenue growth</a:t>
            </a:r>
            <a:endParaRPr sz="3000">
              <a:sym typeface="+mn-ea"/>
            </a:endParaRPr>
          </a:p>
          <a:p>
            <a:pPr algn="just"/>
            <a:endParaRPr lang="en-US" sz="3000">
              <a:sym typeface="+mn-ea"/>
            </a:endParaRPr>
          </a:p>
        </p:txBody>
      </p:sp>
      <p:pic>
        <p:nvPicPr>
          <p:cNvPr id="5" name="Picture 4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94540" y="6506845"/>
            <a:ext cx="452755" cy="309245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7574280" y="635"/>
            <a:ext cx="7056120" cy="82289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" y="862965"/>
            <a:ext cx="8134985" cy="13893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Partnerships &amp; Collaborations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2006084" y="2209840"/>
            <a:ext cx="285071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Hack The Box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005965" y="2712720"/>
            <a:ext cx="5708015" cy="6934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Joint challenges and community events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005846" y="3988475"/>
            <a:ext cx="285071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Immersive Labs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2005965" y="4561205"/>
            <a:ext cx="5732145" cy="6934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Shared content development &amp; resources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006243" y="5504855"/>
            <a:ext cx="3013472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Educational Institutions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2005965" y="5861050"/>
            <a:ext cx="5615305" cy="6934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Curriculum integration in universities</a:t>
            </a:r>
            <a:endParaRPr lang="en-US" sz="2000" dirty="0"/>
          </a:p>
        </p:txBody>
      </p:sp>
      <p:pic>
        <p:nvPicPr>
          <p:cNvPr id="11" name="Picture 10"/>
          <p:cNvPicPr/>
          <p:nvPr/>
        </p:nvPicPr>
        <p:blipFill>
          <a:blip r:embed="rId1"/>
          <a:stretch>
            <a:fillRect/>
          </a:stretch>
        </p:blipFill>
        <p:spPr>
          <a:xfrm>
            <a:off x="8163560" y="0"/>
            <a:ext cx="6467475" cy="8228965"/>
          </a:xfrm>
          <a:prstGeom prst="rect">
            <a:avLst/>
          </a:prstGeom>
        </p:spPr>
      </p:pic>
      <p:sp>
        <p:nvSpPr>
          <p:cNvPr id="15" name="Shape 1"/>
          <p:cNvSpPr/>
          <p:nvPr/>
        </p:nvSpPr>
        <p:spPr>
          <a:xfrm>
            <a:off x="1245870" y="2252345"/>
            <a:ext cx="464820" cy="356235"/>
          </a:xfrm>
          <a:prstGeom prst="roundRect">
            <a:avLst>
              <a:gd name="adj" fmla="val 40004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4" name="Shape 1"/>
          <p:cNvSpPr/>
          <p:nvPr/>
        </p:nvSpPr>
        <p:spPr>
          <a:xfrm>
            <a:off x="1245870" y="3988435"/>
            <a:ext cx="464820" cy="356235"/>
          </a:xfrm>
          <a:prstGeom prst="roundRect">
            <a:avLst>
              <a:gd name="adj" fmla="val 40004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6" name="Shape 1"/>
          <p:cNvSpPr/>
          <p:nvPr/>
        </p:nvSpPr>
        <p:spPr>
          <a:xfrm>
            <a:off x="1245870" y="5506720"/>
            <a:ext cx="464820" cy="356235"/>
          </a:xfrm>
          <a:prstGeom prst="roundRect">
            <a:avLst>
              <a:gd name="adj" fmla="val 40004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3045" y="862965"/>
            <a:ext cx="6516370" cy="13893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Future RoadMap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478280" y="2555240"/>
            <a:ext cx="3973195" cy="9950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sz="3000">
                <a:sym typeface="+mn-ea"/>
              </a:rPr>
              <a:t>Expansion into more </a:t>
            </a:r>
            <a:endParaRPr sz="3000">
              <a:sym typeface="+mn-ea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sz="3000">
                <a:sym typeface="+mn-ea"/>
              </a:rPr>
              <a:t>languages and regions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78280" y="4344670"/>
            <a:ext cx="4479925" cy="13887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sz="3000">
                <a:sym typeface="+mn-ea"/>
              </a:rPr>
              <a:t>Enhanced features based </a:t>
            </a:r>
            <a:endParaRPr sz="3000">
              <a:sym typeface="+mn-ea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sz="3000">
                <a:sym typeface="+mn-ea"/>
              </a:rPr>
              <a:t>on feedback</a:t>
            </a:r>
            <a:endParaRPr lang="en-US" sz="3000" dirty="0"/>
          </a:p>
        </p:txBody>
      </p:sp>
      <p:sp>
        <p:nvSpPr>
          <p:cNvPr id="15" name="Shape 1"/>
          <p:cNvSpPr/>
          <p:nvPr/>
        </p:nvSpPr>
        <p:spPr>
          <a:xfrm>
            <a:off x="781050" y="2608580"/>
            <a:ext cx="464820" cy="356235"/>
          </a:xfrm>
          <a:prstGeom prst="roundRect">
            <a:avLst>
              <a:gd name="adj" fmla="val 40004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4" name="Shape 1"/>
          <p:cNvSpPr/>
          <p:nvPr/>
        </p:nvSpPr>
        <p:spPr>
          <a:xfrm>
            <a:off x="781050" y="4344670"/>
            <a:ext cx="464820" cy="356235"/>
          </a:xfrm>
          <a:prstGeom prst="roundRect">
            <a:avLst>
              <a:gd name="adj" fmla="val 40004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6010" y="0"/>
            <a:ext cx="845439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17875" y="859155"/>
            <a:ext cx="6516370" cy="13893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65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Conclusion</a:t>
            </a:r>
            <a:endParaRPr lang="en-US" sz="6500" b="1" dirty="0">
              <a:solidFill>
                <a:srgbClr val="7068F4"/>
              </a:solidFill>
              <a:latin typeface="Barlow Bold" pitchFamily="34" charset="0"/>
              <a:ea typeface="Barlow Bold" pitchFamily="34" charset="-122"/>
              <a:cs typeface="Barlow Bold" pitchFamily="34" charset="-12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783080" y="2248535"/>
            <a:ext cx="10790555" cy="38271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just"/>
            <a:r>
              <a:rPr lang="en-US" altLang="en-US" sz="3500">
                <a:sym typeface="+mn-ea"/>
              </a:rPr>
              <a:t>TryHackMe is a practical, beginner-friendly cybersecurity learning platform offering hands-on labs and structured paths. It supports individual growth, community learning, and making it a valuable tool for real-world cybersecurity skills.</a:t>
            </a:r>
            <a:endParaRPr lang="en-US" altLang="en-US" sz="3500">
              <a:sym typeface="+mn-e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27815" y="7327900"/>
            <a:ext cx="2902585" cy="9017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-635" y="635"/>
            <a:ext cx="14631035" cy="8228330"/>
          </a:xfrm>
          <a:prstGeom prst="rect">
            <a:avLst/>
          </a:prstGeom>
        </p:spPr>
      </p:pic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61785" cy="82302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14630400" cy="82359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1607</Words>
  <Application>WPS Presentation</Application>
  <PresentationFormat>On-screen Show (16:9)</PresentationFormat>
  <Paragraphs>106</Paragraphs>
  <Slides>12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36" baseType="lpstr">
      <vt:lpstr>Arial</vt:lpstr>
      <vt:lpstr>SimSun</vt:lpstr>
      <vt:lpstr>Wingdings</vt:lpstr>
      <vt:lpstr>Montserrat Bold</vt:lpstr>
      <vt:lpstr>苹方-简</vt:lpstr>
      <vt:lpstr>Montserrat Bold</vt:lpstr>
      <vt:lpstr>Montserrat Bold</vt:lpstr>
      <vt:lpstr>Barlow Bold</vt:lpstr>
      <vt:lpstr>Barlow Bold</vt:lpstr>
      <vt:lpstr>Barlow Bold</vt:lpstr>
      <vt:lpstr>Montserrat</vt:lpstr>
      <vt:lpstr>Montserrat</vt:lpstr>
      <vt:lpstr>Montserrat</vt:lpstr>
      <vt:lpstr>Calibri</vt:lpstr>
      <vt:lpstr>Helvetica Neue</vt:lpstr>
      <vt:lpstr>Microsoft YaHei</vt:lpstr>
      <vt:lpstr>汉仪旗黑</vt:lpstr>
      <vt:lpstr>Arial Unicode MS</vt:lpstr>
      <vt:lpstr>宋体-简</vt:lpstr>
      <vt:lpstr>Monaco</vt:lpstr>
      <vt:lpstr>Times New Roman Regular</vt:lpstr>
      <vt:lpstr>Calibri Light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Aryan Kushwaha</cp:lastModifiedBy>
  <cp:revision>23</cp:revision>
  <dcterms:created xsi:type="dcterms:W3CDTF">2025-05-14T14:25:43Z</dcterms:created>
  <dcterms:modified xsi:type="dcterms:W3CDTF">2025-05-14T14:25:43Z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97A1251CAFF2AE54323C2368F5208773_43</vt:lpwstr>
  </property>
  <property fmtid="{D5CDD505-2E9C-101B-9397-08002B2CF9AE}" pid="3" name="KSOProductBuildVer">
    <vt:lpwstr>1033-6.14.0.8716</vt:lpwstr>
  </property>
</Properties>
</file>